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titol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Celestia-R1---OverlayTitleHD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962520" y="1964160"/>
            <a:ext cx="7197480" cy="242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85000" lnSpcReduction="9999"/>
          </a:bodyPr>
          <a:lstStyle>
            <a:lvl1pPr indent="0" algn="r" defTabSz="457200">
              <a:lnSpc>
                <a:spcPct val="100000"/>
              </a:lnSpc>
              <a:buNone/>
              <a:defRPr lang="it-IT" sz="48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it-IT" sz="48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en-US" sz="48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8932680" y="5870520"/>
            <a:ext cx="159984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3962520" y="5870520"/>
            <a:ext cx="489348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10608840" y="5870520"/>
            <a:ext cx="55080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E909D3-CC63-4AB0-A6E7-38F50DB06FEF}" type="slidenum"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Outline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Outline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Outline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magine panoramica con didascalia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4732920"/>
            <a:ext cx="1013112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lstStyle>
            <a:lvl1pPr indent="0" algn="l" defTabSz="457200">
              <a:lnSpc>
                <a:spcPct val="100000"/>
              </a:lnSpc>
              <a:buNone/>
              <a:defRPr lang="it-IT" sz="24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it-IT" sz="24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en-US" sz="24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1371600" y="932040"/>
            <a:ext cx="8759520" cy="3164760"/>
          </a:xfrm>
          <a:prstGeom prst="rect">
            <a:avLst/>
          </a:prstGeom>
          <a:noFill/>
          <a:ln cap="sq" w="50760">
            <a:solidFill>
              <a:srgbClr val="FFFFFF"/>
            </a:solidFill>
            <a:miter/>
          </a:ln>
          <a:effectLst>
            <a:outerShdw dist="0" dir="0" blurRad="25416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sull'icona per inserire un'immagine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85800" y="5299560"/>
            <a:ext cx="1013112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it-IT" sz="1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8589600" y="5870520"/>
            <a:ext cx="159984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685800" y="5870520"/>
            <a:ext cx="782712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10266120" y="5870520"/>
            <a:ext cx="55080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28DC4D-E5AA-47B2-BD07-F16A0EDC8AA9}" type="slidenum"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olo e sottotitol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6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1120" cy="31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it-IT" sz="3200" b="0" u="none" strike="noStrike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it-IT" sz="32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1013112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it-IT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8589600" y="5870520"/>
            <a:ext cx="159984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685800" y="5870520"/>
            <a:ext cx="782712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10266120" y="5870520"/>
            <a:ext cx="55080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CBC6CB-BAB3-412D-8449-E58559F839A1}" type="slidenum"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itazione con didascalia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15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Box 14"/>
          <p:cNvSpPr/>
          <p:nvPr/>
        </p:nvSpPr>
        <p:spPr>
          <a:xfrm>
            <a:off x="10238040" y="2743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lt1"/>
                </a:solidFill>
                <a:effectLst/>
                <a:uFillTx/>
                <a:latin typeface="Calibri"/>
              </a:rPr>
              <a:t>”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Box 10"/>
          <p:cNvSpPr/>
          <p:nvPr/>
        </p:nvSpPr>
        <p:spPr>
          <a:xfrm>
            <a:off x="488160" y="82332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lt1"/>
                </a:solidFill>
                <a:effectLst/>
                <a:uFillTx/>
                <a:latin typeface="Calibri"/>
              </a:rPr>
              <a:t>“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992160" y="609480"/>
            <a:ext cx="9550080" cy="274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it-IT" sz="3200" b="0" u="none" strike="noStrike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it-IT" sz="32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1098000" y="3352680"/>
            <a:ext cx="933876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87600" y="4343400"/>
            <a:ext cx="1015200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it-IT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0"/>
          </p:nvPr>
        </p:nvSpPr>
        <p:spPr>
          <a:xfrm>
            <a:off x="8589600" y="5870520"/>
            <a:ext cx="159984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1"/>
          </p:nvPr>
        </p:nvSpPr>
        <p:spPr>
          <a:xfrm>
            <a:off x="685800" y="5870520"/>
            <a:ext cx="782712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2"/>
          </p:nvPr>
        </p:nvSpPr>
        <p:spPr>
          <a:xfrm>
            <a:off x="10266120" y="5870520"/>
            <a:ext cx="55080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AAF534-2A8D-422B-A44B-C8F78ADF977F}" type="slidenum"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cheda nom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7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85800" y="3308760"/>
            <a:ext cx="1013112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it-IT" sz="3200" b="0" u="none" strike="noStrike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it-IT" sz="32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85800" y="4777560"/>
            <a:ext cx="1013112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it-IT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3"/>
          </p:nvPr>
        </p:nvSpPr>
        <p:spPr>
          <a:xfrm>
            <a:off x="8589600" y="5870520"/>
            <a:ext cx="159984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14"/>
          </p:nvPr>
        </p:nvSpPr>
        <p:spPr>
          <a:xfrm>
            <a:off x="685800" y="5870520"/>
            <a:ext cx="782712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15"/>
          </p:nvPr>
        </p:nvSpPr>
        <p:spPr>
          <a:xfrm>
            <a:off x="10266120" y="5870520"/>
            <a:ext cx="55080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E6981A-93F9-47BB-95AA-EDCE750BD611}" type="slidenum"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cheda nome citazion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10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Box 12"/>
          <p:cNvSpPr/>
          <p:nvPr/>
        </p:nvSpPr>
        <p:spPr>
          <a:xfrm>
            <a:off x="10238040" y="2743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lt1"/>
                </a:solidFill>
                <a:effectLst/>
                <a:uFillTx/>
                <a:latin typeface="Calibri"/>
              </a:rPr>
              <a:t>”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Box 13"/>
          <p:cNvSpPr/>
          <p:nvPr/>
        </p:nvSpPr>
        <p:spPr>
          <a:xfrm>
            <a:off x="488160" y="82332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lt1"/>
                </a:solidFill>
                <a:effectLst/>
                <a:uFillTx/>
                <a:latin typeface="Calibri"/>
              </a:rPr>
              <a:t>“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992160" y="609480"/>
            <a:ext cx="9550080" cy="274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it-IT" sz="3200" b="0" u="none" strike="noStrike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it-IT" sz="32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85800" y="3886200"/>
            <a:ext cx="10135080" cy="88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-28584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it-IT" sz="2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it-IT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85800" y="4775040"/>
            <a:ext cx="10135080" cy="101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16"/>
          </p:nvPr>
        </p:nvSpPr>
        <p:spPr>
          <a:xfrm>
            <a:off x="8589600" y="5870520"/>
            <a:ext cx="159984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17"/>
          </p:nvPr>
        </p:nvSpPr>
        <p:spPr>
          <a:xfrm>
            <a:off x="685800" y="5870520"/>
            <a:ext cx="782712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18"/>
          </p:nvPr>
        </p:nvSpPr>
        <p:spPr>
          <a:xfrm>
            <a:off x="10266120" y="5870520"/>
            <a:ext cx="55080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6B0CA6-6B88-47C8-8CE0-54DEC9FB0D8B}" type="slidenum"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o o fals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7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1120" cy="274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it-IT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it-IT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en-US" sz="36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85800" y="3505320"/>
            <a:ext cx="1013112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-28584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it-IT" sz="2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it-IT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1013112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19"/>
          </p:nvPr>
        </p:nvSpPr>
        <p:spPr>
          <a:xfrm>
            <a:off x="8589600" y="5870520"/>
            <a:ext cx="159984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0"/>
          </p:nvPr>
        </p:nvSpPr>
        <p:spPr>
          <a:xfrm>
            <a:off x="685800" y="5870520"/>
            <a:ext cx="782712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21"/>
          </p:nvPr>
        </p:nvSpPr>
        <p:spPr>
          <a:xfrm>
            <a:off x="10266120" y="5870520"/>
            <a:ext cx="55080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1BA297-0636-48B5-9C8D-51177D508FEA}" type="slidenum"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olo e testo vertical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6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body"/>
          </p:nvPr>
        </p:nvSpPr>
        <p:spPr>
          <a:xfrm>
            <a:off x="685800" y="2142000"/>
            <a:ext cx="10131120" cy="364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Secondo livello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Terzo livello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Quarto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Quinto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22"/>
          </p:nvPr>
        </p:nvSpPr>
        <p:spPr>
          <a:xfrm>
            <a:off x="8589600" y="5870520"/>
            <a:ext cx="159984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23"/>
          </p:nvPr>
        </p:nvSpPr>
        <p:spPr>
          <a:xfrm>
            <a:off x="685800" y="5870520"/>
            <a:ext cx="782712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24"/>
          </p:nvPr>
        </p:nvSpPr>
        <p:spPr>
          <a:xfrm>
            <a:off x="10266120" y="5870520"/>
            <a:ext cx="55080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03AF03-F5EA-4715-9DF2-7B026B9F13F4}" type="slidenum"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1120" cy="14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it-IT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it-IT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en-US" sz="36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1_Titolo e testo vertical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6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658720" y="609480"/>
            <a:ext cx="2158200" cy="518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it-IT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it-IT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en-US" sz="36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85800" y="609480"/>
            <a:ext cx="7831800" cy="518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Secondo livello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Terzo livello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Quarto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Quinto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dt" idx="25"/>
          </p:nvPr>
        </p:nvSpPr>
        <p:spPr>
          <a:xfrm>
            <a:off x="8589600" y="5870520"/>
            <a:ext cx="159984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ftr" idx="26"/>
          </p:nvPr>
        </p:nvSpPr>
        <p:spPr>
          <a:xfrm>
            <a:off x="685800" y="5870520"/>
            <a:ext cx="782712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sldNum" idx="27"/>
          </p:nvPr>
        </p:nvSpPr>
        <p:spPr>
          <a:xfrm>
            <a:off x="10266120" y="5870520"/>
            <a:ext cx="55080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459DEE-C2CF-4267-A8A1-FFE56B9F5D08}" type="slidenum"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olo e contenut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1120" cy="14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it-IT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it-IT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en-US" sz="36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85800" y="2142000"/>
            <a:ext cx="10131120" cy="364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Secondo livello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Terzo livello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Quarto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Quinto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dt" idx="28"/>
          </p:nvPr>
        </p:nvSpPr>
        <p:spPr>
          <a:xfrm>
            <a:off x="8589600" y="5870520"/>
            <a:ext cx="159984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ftr" idx="29"/>
          </p:nvPr>
        </p:nvSpPr>
        <p:spPr>
          <a:xfrm>
            <a:off x="685800" y="5870520"/>
            <a:ext cx="782712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sldNum" idx="30"/>
          </p:nvPr>
        </p:nvSpPr>
        <p:spPr>
          <a:xfrm>
            <a:off x="10266120" y="5870520"/>
            <a:ext cx="55080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748415-D200-417A-83A5-51E914A6CE29}" type="slidenum"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estazione sezion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6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85800" y="3308760"/>
            <a:ext cx="1013112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it-IT" sz="40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it-IT" sz="40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en-US" sz="40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85800" y="4777560"/>
            <a:ext cx="1013112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it-IT" sz="2000" b="0" u="none" strike="noStrike" cap="all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it-IT" sz="2000" b="0" u="none" strike="noStrike" cap="all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2000" b="0" u="none" strike="noStrike" cap="all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dt" idx="31"/>
          </p:nvPr>
        </p:nvSpPr>
        <p:spPr>
          <a:xfrm>
            <a:off x="8589600" y="5870520"/>
            <a:ext cx="159984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ftr" idx="32"/>
          </p:nvPr>
        </p:nvSpPr>
        <p:spPr>
          <a:xfrm>
            <a:off x="685800" y="5870520"/>
            <a:ext cx="782712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sldNum" idx="33"/>
          </p:nvPr>
        </p:nvSpPr>
        <p:spPr>
          <a:xfrm>
            <a:off x="10266120" y="5870520"/>
            <a:ext cx="55080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880BAB-CC20-420C-9732-CBE7C27A46B7}" type="slidenum"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e contenuti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1120" cy="14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it-IT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it-IT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en-US" sz="36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85800" y="2142000"/>
            <a:ext cx="4995000" cy="364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Secondo livello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Terzo livello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Quarto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Quinto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5821920" y="2142000"/>
            <a:ext cx="4995000" cy="364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Secondo livello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Terzo livello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Quarto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Quinto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34"/>
          </p:nvPr>
        </p:nvSpPr>
        <p:spPr>
          <a:xfrm>
            <a:off x="8589600" y="5870520"/>
            <a:ext cx="159984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35"/>
          </p:nvPr>
        </p:nvSpPr>
        <p:spPr>
          <a:xfrm>
            <a:off x="685800" y="5870520"/>
            <a:ext cx="782712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36"/>
          </p:nvPr>
        </p:nvSpPr>
        <p:spPr>
          <a:xfrm>
            <a:off x="10266120" y="5870520"/>
            <a:ext cx="55080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7F2EB4-20F3-43A8-9622-84EED6A77CDB}" type="slidenum"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front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1120" cy="14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it-IT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it-IT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en-US" sz="36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973800" y="2218320"/>
            <a:ext cx="470880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it-IT" sz="2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it-IT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685800" y="2870280"/>
            <a:ext cx="4996440" cy="292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it-IT" sz="1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Secondo livello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Terzo livello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Quarto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Quinto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6095880" y="2226600"/>
            <a:ext cx="472248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it-IT" sz="2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it-IT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5823360" y="2870280"/>
            <a:ext cx="4995000" cy="292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it-IT" sz="1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Secondo livello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Terzo livello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Quarto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Quinto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dt" idx="37"/>
          </p:nvPr>
        </p:nvSpPr>
        <p:spPr>
          <a:xfrm>
            <a:off x="8589600" y="5870520"/>
            <a:ext cx="159984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 type="ftr" idx="38"/>
          </p:nvPr>
        </p:nvSpPr>
        <p:spPr>
          <a:xfrm>
            <a:off x="685800" y="5870520"/>
            <a:ext cx="782712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8"/>
          <p:cNvSpPr>
            <a:spLocks noGrp="1"/>
          </p:cNvSpPr>
          <p:nvPr>
            <p:ph type="sldNum" idx="39"/>
          </p:nvPr>
        </p:nvSpPr>
        <p:spPr>
          <a:xfrm>
            <a:off x="10266120" y="5870520"/>
            <a:ext cx="55080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764AED-73DE-4D9C-B81A-4EA01941ACD0}" type="slidenum"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titol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5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1120" cy="14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it-IT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it-IT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en-US" sz="36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dt" idx="40"/>
          </p:nvPr>
        </p:nvSpPr>
        <p:spPr>
          <a:xfrm>
            <a:off x="8589600" y="5870520"/>
            <a:ext cx="159984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ftr" idx="41"/>
          </p:nvPr>
        </p:nvSpPr>
        <p:spPr>
          <a:xfrm>
            <a:off x="685800" y="5870520"/>
            <a:ext cx="782712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42"/>
          </p:nvPr>
        </p:nvSpPr>
        <p:spPr>
          <a:xfrm>
            <a:off x="10266120" y="5870520"/>
            <a:ext cx="55080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3F7825-D41A-44F7-AE3D-05BC82EB8272}" type="slidenum"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uota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4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PlaceHolder 1"/>
          <p:cNvSpPr>
            <a:spLocks noGrp="1"/>
          </p:cNvSpPr>
          <p:nvPr>
            <p:ph type="dt" idx="43"/>
          </p:nvPr>
        </p:nvSpPr>
        <p:spPr>
          <a:xfrm>
            <a:off x="8589600" y="5870520"/>
            <a:ext cx="159984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ftr" idx="44"/>
          </p:nvPr>
        </p:nvSpPr>
        <p:spPr>
          <a:xfrm>
            <a:off x="685800" y="5870520"/>
            <a:ext cx="782712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45"/>
          </p:nvPr>
        </p:nvSpPr>
        <p:spPr>
          <a:xfrm>
            <a:off x="10266120" y="5870520"/>
            <a:ext cx="55080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DDEE5B-E35A-491C-867F-77382F993ED4}" type="slidenum"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to con didascalia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7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5800" y="2074320"/>
            <a:ext cx="3680640" cy="137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lstStyle>
            <a:lvl1pPr indent="0" algn="l" defTabSz="457200">
              <a:lnSpc>
                <a:spcPct val="100000"/>
              </a:lnSpc>
              <a:buNone/>
              <a:defRPr lang="it-IT" sz="24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it-IT" sz="24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en-US" sz="24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4648320" y="609480"/>
            <a:ext cx="6168600" cy="518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Secondo livello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Terzo livello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Quarto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it-IT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Quinto livello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685800" y="3445920"/>
            <a:ext cx="3680640" cy="18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dt" idx="46"/>
          </p:nvPr>
        </p:nvSpPr>
        <p:spPr>
          <a:xfrm>
            <a:off x="8589600" y="5870520"/>
            <a:ext cx="159984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ftr" idx="47"/>
          </p:nvPr>
        </p:nvSpPr>
        <p:spPr>
          <a:xfrm>
            <a:off x="685800" y="5870520"/>
            <a:ext cx="782712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6"/>
          <p:cNvSpPr>
            <a:spLocks noGrp="1"/>
          </p:cNvSpPr>
          <p:nvPr>
            <p:ph type="sldNum" idx="48"/>
          </p:nvPr>
        </p:nvSpPr>
        <p:spPr>
          <a:xfrm>
            <a:off x="10266120" y="5870520"/>
            <a:ext cx="55080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927B49-8AEF-4248-86C9-6F4DA37A399D}" type="slidenum"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magine con didascalia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7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280" cy="137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it-IT" sz="28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it-IT" sz="28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en-US" sz="28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7536240" y="914400"/>
            <a:ext cx="3280680" cy="4571640"/>
          </a:xfrm>
          <a:prstGeom prst="rect">
            <a:avLst/>
          </a:prstGeom>
          <a:noFill/>
          <a:ln cap="sq" w="50760">
            <a:solidFill>
              <a:srgbClr val="FFFFFF"/>
            </a:solidFill>
            <a:miter/>
          </a:ln>
          <a:effectLst>
            <a:outerShdw dist="0" dir="0" blurRad="25416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sull'icona per inserire un'immagine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85800" y="2971800"/>
            <a:ext cx="6164280" cy="18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Fare clic per modificare gli stili del testo dello schema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dt" idx="49"/>
          </p:nvPr>
        </p:nvSpPr>
        <p:spPr>
          <a:xfrm>
            <a:off x="8589600" y="5870520"/>
            <a:ext cx="159984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ftr" idx="50"/>
          </p:nvPr>
        </p:nvSpPr>
        <p:spPr>
          <a:xfrm>
            <a:off x="685800" y="5870520"/>
            <a:ext cx="782712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6"/>
          <p:cNvSpPr>
            <a:spLocks noGrp="1"/>
          </p:cNvSpPr>
          <p:nvPr>
            <p:ph type="sldNum" idx="51"/>
          </p:nvPr>
        </p:nvSpPr>
        <p:spPr>
          <a:xfrm>
            <a:off x="10266120" y="5870520"/>
            <a:ext cx="550800" cy="37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070022-2418-41A8-9943-A0602EA7A255}" type="slidenum">
              <a:rPr lang="it-IT" sz="1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1120" cy="14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buNone/>
            </a:pPr>
            <a:endParaRPr lang="en-US" sz="36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graphicFrame>
        <p:nvGraphicFramePr>
          <p:cNvPr id="115" name="Segnaposto contenuto 3"/>
          <p:cNvGraphicFramePr/>
          <p:nvPr/>
        </p:nvGraphicFramePr>
        <p:xfrm>
          <a:off x="473400" y="320400"/>
          <a:ext cx="11452320" cy="5394600"/>
        </p:xfrm>
        <a:graphic>
          <a:graphicData uri="http://schemas.openxmlformats.org/drawingml/2006/table">
            <a:tbl>
              <a:tblPr/>
              <a:tblGrid>
                <a:gridCol w="1566360"/>
                <a:gridCol w="1566360"/>
                <a:gridCol w="1566360"/>
                <a:gridCol w="1566360"/>
                <a:gridCol w="1566360"/>
                <a:gridCol w="1566360"/>
                <a:gridCol w="2054520"/>
              </a:tblGrid>
              <a:tr h="6624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Sequenza e tempo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FOTOGRAMMA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SCRITTE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TESTO ORALE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MUSICA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SUONI NON VERBALI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RIFERIMENTI INTERTESTUALI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</a:tr>
              <a:tr h="2365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Avere figli ti ha penalizzato? No - Si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it-IT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Avere figli ti ha penalizzato?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it-IT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Tenue, lascia spazio alla voce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it-IT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Suono dello schermo che si accende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it-IT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Il come, avere figli, che è comune per uomini e donne, può portare a strade e percorsi differenti, e può anche penalizzare una delle parti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</a:tr>
              <a:tr h="23662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Guadagni meno del tuo collega?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Rimane molto bassa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Suono dello schermo che si accende (anche qui come prima, schermo con domanda)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 vuole porre l’attenzione sulla differenza di salario tra uomini e donne, anch’esso segno di violenza di genere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</a:tr>
            </a:tbl>
          </a:graphicData>
        </a:graphic>
      </p:graphicFrame>
      <p:pic>
        <p:nvPicPr>
          <p:cNvPr id="116" name=""/>
          <p:cNvPicPr/>
          <p:nvPr/>
        </p:nvPicPr>
        <p:blipFill>
          <a:blip r:embed="rId1"/>
          <a:stretch/>
        </p:blipFill>
        <p:spPr>
          <a:xfrm>
            <a:off x="770040" y="1143000"/>
            <a:ext cx="2658960" cy="16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"/>
          <p:cNvPicPr/>
          <p:nvPr/>
        </p:nvPicPr>
        <p:blipFill>
          <a:blip r:embed="rId2"/>
          <a:stretch/>
        </p:blipFill>
        <p:spPr>
          <a:xfrm>
            <a:off x="770040" y="3367440"/>
            <a:ext cx="2658960" cy="1661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1120" cy="14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buNone/>
            </a:pPr>
            <a:endParaRPr lang="en-US" sz="36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graphicFrame>
        <p:nvGraphicFramePr>
          <p:cNvPr id="119" name="Segnaposto contenuto 9"/>
          <p:cNvGraphicFramePr/>
          <p:nvPr/>
        </p:nvGraphicFramePr>
        <p:xfrm>
          <a:off x="-59760" y="63720"/>
          <a:ext cx="12251520" cy="6565680"/>
        </p:xfrm>
        <a:graphic>
          <a:graphicData uri="http://schemas.openxmlformats.org/drawingml/2006/table">
            <a:tbl>
              <a:tblPr/>
              <a:tblGrid>
                <a:gridCol w="1407240"/>
                <a:gridCol w="1564200"/>
                <a:gridCol w="1897200"/>
                <a:gridCol w="1603080"/>
                <a:gridCol w="1843200"/>
                <a:gridCol w="1076400"/>
                <a:gridCol w="2860560"/>
              </a:tblGrid>
              <a:tr h="947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Sequenza e tempo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FOTOGRAMMA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SCRITTE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TESTO ORALE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MUSICA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SUONI NON VERBALI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6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INTERPRETAZIONE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</a:tr>
              <a:tr h="1515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it-IT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Hai mai subito molestie? Si - No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Hai mai subito molestie?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Aumento non eccessivo del volume della musica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it-IT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Schermo che si accende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 vuole porre l’attenzione sul fatto che, purtroppo, molte donne hanno subito molestie, e che una cosa così grave è più comune di quanto non si pensi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</a:tr>
              <a:tr h="1732680">
                <a:tc>
                  <a:txBody>
                    <a:bodyPr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Inizio del ritornello della canzone, musica molto alta improvvisamente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Il fatto che l’uomo esca dal labirinto facilmente indica il come gli uomini non vengano colpiti, o non solitamente, da determinate problematiche, tipiche della violenza di genere, e il fatto che, nonostante si sia girato, abbia scelto di andarsene, indica la sua noncuranza verso le donne in difficoltà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</a:tr>
              <a:tr h="2369520">
                <a:tc>
                  <a:txBody>
                    <a:bodyPr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Musica quasi al culmine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Il muro davanti alla via d’uscita indica il come spesso le donne rimangano “intrappolate” nelle problematiche e non abbiano “vie di uscita” ovvie come molti uomini, per via della violenza di genere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</a:tr>
            </a:tbl>
          </a:graphicData>
        </a:graphic>
      </p:graphicFrame>
      <p:pic>
        <p:nvPicPr>
          <p:cNvPr id="120" name=""/>
          <p:cNvPicPr/>
          <p:nvPr/>
        </p:nvPicPr>
        <p:blipFill>
          <a:blip r:embed="rId1"/>
          <a:stretch/>
        </p:blipFill>
        <p:spPr>
          <a:xfrm>
            <a:off x="527400" y="901080"/>
            <a:ext cx="2215800" cy="138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"/>
          <p:cNvPicPr/>
          <p:nvPr/>
        </p:nvPicPr>
        <p:blipFill>
          <a:blip r:embed="rId2"/>
          <a:stretch/>
        </p:blipFill>
        <p:spPr>
          <a:xfrm>
            <a:off x="548640" y="2514600"/>
            <a:ext cx="2194560" cy="137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"/>
          <p:cNvSpPr txBox="1"/>
          <p:nvPr/>
        </p:nvSpPr>
        <p:spPr>
          <a:xfrm>
            <a:off x="11887200" y="5486400"/>
            <a:ext cx="2286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`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" name=""/>
          <p:cNvPicPr/>
          <p:nvPr/>
        </p:nvPicPr>
        <p:blipFill>
          <a:blip r:embed="rId3"/>
          <a:stretch/>
        </p:blipFill>
        <p:spPr>
          <a:xfrm>
            <a:off x="457920" y="4800600"/>
            <a:ext cx="2285280" cy="1428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1120" cy="145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buNone/>
            </a:pPr>
            <a:endParaRPr lang="en-US" sz="36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graphicFrame>
        <p:nvGraphicFramePr>
          <p:cNvPr id="125" name="Segnaposto contenuto 3"/>
          <p:cNvGraphicFramePr/>
          <p:nvPr/>
        </p:nvGraphicFramePr>
        <p:xfrm>
          <a:off x="0" y="0"/>
          <a:ext cx="12115800" cy="6858000"/>
        </p:xfrm>
        <a:graphic>
          <a:graphicData uri="http://schemas.openxmlformats.org/drawingml/2006/table">
            <a:tbl>
              <a:tblPr/>
              <a:tblGrid>
                <a:gridCol w="1092960"/>
                <a:gridCol w="1654920"/>
                <a:gridCol w="1600560"/>
                <a:gridCol w="1423800"/>
                <a:gridCol w="1193400"/>
                <a:gridCol w="1616040"/>
                <a:gridCol w="3534120"/>
              </a:tblGrid>
              <a:tr h="727560">
                <a:tc>
                  <a:txBody>
                    <a:bodyPr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Testo orale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SCRITTE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MUSICA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it-IT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SUONI NON VERBALI</a:t>
                      </a:r>
                      <a:endParaRPr lang="it-IT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1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RIF INTERTESTUALI E INTERPRETAZIONE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AC3EC1"/>
                    </a:solidFill>
                  </a:tcPr>
                </a:tc>
              </a:tr>
              <a:tr h="2597400">
                <a:tc>
                  <a:txBody>
                    <a:bodyPr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Ancora 169 anni per raggiungere la parità economica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Al culmine, ma si abbassa per fare spazio alla voce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it-IT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Tacco contro la roccia / il muro e i primi frammenti che cadono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La donna è costretta ad affrontare di petto i problemi, a costruirsi l’uscita da se. Il tacco rosso, simbolo della lotta che le donne portano avanti contro la violenza di genere è usato per abbattere ciò che si contrappone tra la donna nel video e la “libertà dai problemi”. I traguardi ottenuti dalle donne che lottano per la parità iniziano ad essere elencati, ponendo importanza anche sulla durata della lotta, ed il quanto tempo ci è voluto per ottenere questi piccoli traguardi.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2CEE8"/>
                    </a:solidFill>
                  </a:tcPr>
                </a:tc>
              </a:tr>
              <a:tr h="3533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it-IT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Non c’è più tempo, abbattiamo i muri: La parità non può aspettare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it-IT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La parità non può aspettare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it-IT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Molto bassa, per lasciare spazio al discorso (prima voce di una donna, poi voce di un uomo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it-IT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Il tacco che continua a distruggere il muro, e altri frammenti che cadono</a:t>
                      </a:r>
                      <a:endParaRPr lang="it-IT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Alla fine dell’elenco dei traguardi ottenuti, la donna è riuscita ad aprire l’uscita, ma non abbastanza. Anche con il cambiamento di voce narratrice da donna a uomo si vuole simboleggiare il come serve collaborare ed intervenire, e sia lo slogan “non c’è più tempo, abbattiamo i muri, la parità non può aspettare” si evidenzia l’urgenza, il fatto che troppo tempo è passato per ottenere dei risultati, e che quei risultati sono solo le i primi passi per l’uscita. I fasci di luce che passano tra le crepe ed i buchi simboleggiano il fatto che il traguardo (la parità di genere) si inizia ad intravedere ed è raggiungibile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Il tacco che continua a picchiare e i fori che si formano indicano la continua lotta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E8F4"/>
                    </a:solidFill>
                  </a:tcPr>
                </a:tc>
              </a:tr>
            </a:tbl>
          </a:graphicData>
        </a:graphic>
      </p:graphicFrame>
      <p:pic>
        <p:nvPicPr>
          <p:cNvPr id="126" name=""/>
          <p:cNvPicPr/>
          <p:nvPr/>
        </p:nvPicPr>
        <p:blipFill>
          <a:blip r:embed="rId1"/>
          <a:stretch/>
        </p:blipFill>
        <p:spPr>
          <a:xfrm>
            <a:off x="228600" y="914400"/>
            <a:ext cx="2444400" cy="152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"/>
          <p:cNvPicPr/>
          <p:nvPr/>
        </p:nvPicPr>
        <p:blipFill>
          <a:blip r:embed="rId2"/>
          <a:stretch/>
        </p:blipFill>
        <p:spPr>
          <a:xfrm>
            <a:off x="228600" y="3430440"/>
            <a:ext cx="2557800" cy="159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 txBox="1"/>
          <p:nvPr/>
        </p:nvSpPr>
        <p:spPr>
          <a:xfrm>
            <a:off x="1371600" y="1600200"/>
            <a:ext cx="3128400" cy="6022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Melnyk Diana - 73573A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Micò Matteo Rocco - 71270A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Celestiale">
  <a:themeElements>
    <a:clrScheme name="Celestiale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shade val="96000"/>
                <a:lumMod val="110000"/>
              </a:schemeClr>
            </a:gs>
            <a:gs pos="100000">
              <a:schemeClr val="phClr">
                <a:shade val="96000"/>
                <a:lumMod val="100000"/>
              </a:schemeClr>
            </a:gs>
          </a:gsLst>
          <a:lin ang="4740000" scaled="1"/>
          <a:tileRect l="0" t="0" r="0" b="0"/>
        </a:gradFill>
        <a:blipFill rotWithShape="0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Celestiale</Template>
  <TotalTime>157</TotalTime>
  <Application>LibreOffice/26.2.1.2$Linux_X86_64 LibreOffice_project/8399f6259d8c87f40e7255cdb3c9b958f5e08948</Application>
  <AppVersion>15.0000</AppVersion>
  <Words>1082</Words>
  <Paragraphs>136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2025-01-31T09:50:57Z</dcterms:created>
  <dc:creator>Michela Dota</dc:creator>
  <dc:description/>
  <dc:language>en-US</dc:language>
  <cp:lastModifiedBy/>
  <dcterms:modified xsi:type="dcterms:W3CDTF">2026-03-30T17:50:31Z</dcterms:modified>
  <cp:revision>15</cp:revision>
  <dc:subject/>
  <dc:title>L’Italiano della pubblicità e l’analisi multimodale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15</vt:i4>
  </property>
</Properties>
</file>